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vardhan2005@outlook.com" userId="7335eaebe3d4b3cd" providerId="LiveId" clId="{7A81B963-B6AE-4F1A-9CD8-21A59443B08C}"/>
    <pc:docChg chg="modSld">
      <pc:chgData name="hvardhan2005@outlook.com" userId="7335eaebe3d4b3cd" providerId="LiveId" clId="{7A81B963-B6AE-4F1A-9CD8-21A59443B08C}" dt="2026-09-21T09:45:56.816" v="74" actId="20577"/>
      <pc:docMkLst>
        <pc:docMk/>
      </pc:docMkLst>
      <pc:sldChg chg="modSp mod">
        <pc:chgData name="hvardhan2005@outlook.com" userId="7335eaebe3d4b3cd" providerId="LiveId" clId="{7A81B963-B6AE-4F1A-9CD8-21A59443B08C}" dt="2026-09-21T09:45:56.816" v="74" actId="20577"/>
        <pc:sldMkLst>
          <pc:docMk/>
          <pc:sldMk cId="0" sldId="256"/>
        </pc:sldMkLst>
        <pc:spChg chg="mod">
          <ac:chgData name="hvardhan2005@outlook.com" userId="7335eaebe3d4b3cd" providerId="LiveId" clId="{7A81B963-B6AE-4F1A-9CD8-21A59443B08C}" dt="2026-09-21T09:45:56.816" v="74" actId="20577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hvardhan2005@outlook.com" userId="7335eaebe3d4b3cd" providerId="LiveId" clId="{7A81B963-B6AE-4F1A-9CD8-21A59443B08C}" dt="2026-09-21T04:37:30.618" v="6" actId="20577"/>
        <pc:sldMkLst>
          <pc:docMk/>
          <pc:sldMk cId="0" sldId="257"/>
        </pc:sldMkLst>
        <pc:spChg chg="mod">
          <ac:chgData name="hvardhan2005@outlook.com" userId="7335eaebe3d4b3cd" providerId="LiveId" clId="{7A81B963-B6AE-4F1A-9CD8-21A59443B08C}" dt="2026-09-21T04:37:01.647" v="2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hvardhan2005@outlook.com" userId="7335eaebe3d4b3cd" providerId="LiveId" clId="{7A81B963-B6AE-4F1A-9CD8-21A59443B08C}" dt="2026-09-21T04:37:20.445" v="4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hvardhan2005@outlook.com" userId="7335eaebe3d4b3cd" providerId="LiveId" clId="{7A81B963-B6AE-4F1A-9CD8-21A59443B08C}" dt="2026-09-21T04:37:30.618" v="6" actId="20577"/>
          <ac:spMkLst>
            <pc:docMk/>
            <pc:sldMk cId="0" sldId="257"/>
            <ac:spMk id="18" creationId="{00000000-0000-0000-0000-000000000000}"/>
          </ac:spMkLst>
        </pc:spChg>
      </pc:sldChg>
      <pc:sldChg chg="modSp mod">
        <pc:chgData name="hvardhan2005@outlook.com" userId="7335eaebe3d4b3cd" providerId="LiveId" clId="{7A81B963-B6AE-4F1A-9CD8-21A59443B08C}" dt="2026-09-21T04:37:42.838" v="7" actId="20577"/>
        <pc:sldMkLst>
          <pc:docMk/>
          <pc:sldMk cId="0" sldId="259"/>
        </pc:sldMkLst>
        <pc:spChg chg="mod">
          <ac:chgData name="hvardhan2005@outlook.com" userId="7335eaebe3d4b3cd" providerId="LiveId" clId="{7A81B963-B6AE-4F1A-9CD8-21A59443B08C}" dt="2026-09-21T04:37:42.838" v="7" actId="20577"/>
          <ac:spMkLst>
            <pc:docMk/>
            <pc:sldMk cId="0" sldId="259"/>
            <ac:spMk id="30" creationId="{00000000-0000-0000-0000-000000000000}"/>
          </ac:spMkLst>
        </pc:spChg>
      </pc:sldChg>
      <pc:sldChg chg="modSp mod">
        <pc:chgData name="hvardhan2005@outlook.com" userId="7335eaebe3d4b3cd" providerId="LiveId" clId="{7A81B963-B6AE-4F1A-9CD8-21A59443B08C}" dt="2026-09-21T04:37:57.229" v="8" actId="20577"/>
        <pc:sldMkLst>
          <pc:docMk/>
          <pc:sldMk cId="0" sldId="263"/>
        </pc:sldMkLst>
        <pc:spChg chg="mod">
          <ac:chgData name="hvardhan2005@outlook.com" userId="7335eaebe3d4b3cd" providerId="LiveId" clId="{7A81B963-B6AE-4F1A-9CD8-21A59443B08C}" dt="2026-09-21T04:37:57.229" v="8" actId="20577"/>
          <ac:spMkLst>
            <pc:docMk/>
            <pc:sldMk cId="0" sldId="263"/>
            <ac:spMk id="3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5349240"/>
            <a:ext cx="12191695" cy="384048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715000"/>
            <a:ext cx="12191695" cy="384048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080760"/>
            <a:ext cx="12191695" cy="384048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7899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0BEDC"/>
                </a:solidFill>
              </a:rPr>
              <a:t>DESIGN AND SIMULATION OF A</a:t>
            </a:r>
          </a:p>
          <a:p>
            <a:r>
              <a:rPr sz="3800" b="1">
                <a:solidFill>
                  <a:srgbClr val="FFFFFF"/>
                </a:solidFill>
              </a:rPr>
              <a:t>SMART WATER TANK</a:t>
            </a:r>
          </a:p>
          <a:p>
            <a:r>
              <a:rPr sz="2500">
                <a:solidFill>
                  <a:srgbClr val="FFFFFF"/>
                </a:solidFill>
              </a:rPr>
              <a:t>Overflow Protection and Pump Control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37560"/>
            <a:ext cx="4120808" cy="17184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 dirty="0">
                <a:solidFill>
                  <a:srgbClr val="00BEDC"/>
                </a:solidFill>
              </a:rPr>
              <a:t>BATCH 11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MIRIYALA SRIKARI — </a:t>
            </a:r>
            <a:r>
              <a:rPr sz="1250" dirty="0" err="1">
                <a:solidFill>
                  <a:srgbClr val="D7E6F2"/>
                </a:solidFill>
              </a:rPr>
              <a:t>B.Tech</a:t>
            </a:r>
            <a:r>
              <a:rPr sz="1250" dirty="0">
                <a:solidFill>
                  <a:srgbClr val="D7E6F2"/>
                </a:solidFill>
              </a:rPr>
              <a:t> CSE — 2620030683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SINDHU CHANDULA — </a:t>
            </a:r>
            <a:r>
              <a:rPr sz="1250" dirty="0" err="1">
                <a:solidFill>
                  <a:srgbClr val="D7E6F2"/>
                </a:solidFill>
              </a:rPr>
              <a:t>B.Tech</a:t>
            </a:r>
            <a:r>
              <a:rPr sz="1250" dirty="0">
                <a:solidFill>
                  <a:srgbClr val="D7E6F2"/>
                </a:solidFill>
              </a:rPr>
              <a:t> CSE — 2620030690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PINGALI SAI GAYATHRI — </a:t>
            </a:r>
            <a:r>
              <a:rPr sz="1250" dirty="0" err="1">
                <a:solidFill>
                  <a:srgbClr val="D7E6F2"/>
                </a:solidFill>
              </a:rPr>
              <a:t>B.Tech</a:t>
            </a:r>
            <a:r>
              <a:rPr sz="1250" dirty="0">
                <a:solidFill>
                  <a:srgbClr val="D7E6F2"/>
                </a:solidFill>
              </a:rPr>
              <a:t> ECE — 2620040006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JADIGAM HARSHAVARDHAN — </a:t>
            </a:r>
            <a:r>
              <a:rPr sz="1250" dirty="0" err="1">
                <a:solidFill>
                  <a:srgbClr val="D7E6F2"/>
                </a:solidFill>
              </a:rPr>
              <a:t>B.Tech</a:t>
            </a:r>
            <a:r>
              <a:rPr sz="1250" dirty="0">
                <a:solidFill>
                  <a:srgbClr val="D7E6F2"/>
                </a:solidFill>
              </a:rPr>
              <a:t> ECE — 2620040028</a:t>
            </a: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Guide: </a:t>
            </a:r>
            <a:r>
              <a:rPr lang="en-US" sz="1250" dirty="0">
                <a:solidFill>
                  <a:srgbClr val="D7E6F2"/>
                </a:solidFill>
              </a:rPr>
              <a:t>Kartheek  V</a:t>
            </a:r>
            <a:r>
              <a:rPr sz="1250" dirty="0">
                <a:solidFill>
                  <a:srgbClr val="D7E6F2"/>
                </a:solidFill>
              </a:rPr>
              <a:t>   |   Department: </a:t>
            </a:r>
            <a:r>
              <a:rPr lang="en-US" sz="1250" dirty="0">
                <a:solidFill>
                  <a:srgbClr val="D7E6F2"/>
                </a:solidFill>
              </a:rPr>
              <a:t>CSE &amp; ECE</a:t>
            </a:r>
            <a:endParaRPr sz="1250" dirty="0">
              <a:solidFill>
                <a:srgbClr val="D7E6F2"/>
              </a:solidFill>
            </a:endParaRPr>
          </a:p>
          <a:p>
            <a:pPr>
              <a:spcAft>
                <a:spcPts val="400"/>
              </a:spcAft>
            </a:pPr>
            <a:r>
              <a:rPr sz="1250" dirty="0">
                <a:solidFill>
                  <a:srgbClr val="D7E6F2"/>
                </a:solidFill>
              </a:rPr>
              <a:t>College: </a:t>
            </a:r>
            <a:r>
              <a:rPr lang="en-US" sz="1250" dirty="0">
                <a:solidFill>
                  <a:srgbClr val="D7E6F2"/>
                </a:solidFill>
              </a:rPr>
              <a:t>KL University</a:t>
            </a:r>
            <a:r>
              <a:rPr sz="1250" dirty="0">
                <a:solidFill>
                  <a:srgbClr val="D7E6F2"/>
                </a:solidFill>
              </a:rPr>
              <a:t>   |   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01  |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Why smart water-level management matters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416052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The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3150350" cy="86177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D3C"/>
                </a:solidFill>
              </a:rPr>
              <a:t>Traditional tanks often depend on manual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observation. This can cause overflow,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water wastage, unnecessary pump operation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and avoidable electricity consumption.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70832" y="1417320"/>
            <a:ext cx="73152" cy="41605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The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80257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D3C"/>
                </a:solidFill>
              </a:rPr>
              <a:t>Use water-level sensors and digital control logic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to detect LOW, MEDIUM and FULL conditions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and automatically control the pump.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417320"/>
            <a:ext cx="34290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55864" y="1417320"/>
            <a:ext cx="73152" cy="4160520"/>
          </a:xfrm>
          <a:prstGeom prst="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7032" y="1581912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The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7032" y="2057400"/>
            <a:ext cx="3310715" cy="66941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dirty="0">
                <a:solidFill>
                  <a:srgbClr val="1E2D3C"/>
                </a:solidFill>
              </a:rPr>
              <a:t>A simple, low-cost and simulation-friendly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approach to safer tank filling, reduced overflow</a:t>
            </a:r>
            <a:endParaRPr lang="en-US" sz="1250" dirty="0">
              <a:solidFill>
                <a:srgbClr val="1E2D3C"/>
              </a:solidFill>
            </a:endParaRPr>
          </a:p>
          <a:p>
            <a:r>
              <a:rPr sz="1250" dirty="0">
                <a:solidFill>
                  <a:srgbClr val="1E2D3C"/>
                </a:solidFill>
              </a:rPr>
              <a:t> and better pump management.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02  | 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Limitations of manual and basic pump-control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424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Water tanks may overflow when the pump is left running after the tank becomes full.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Manual monitoring requires continuous attention and may be inconvenient or unreliable.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Running a pump unnecessarily can increase energy usage and reduce equipment life.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Many simple systems provide only ON/OFF control without clear level indication.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E2D3C"/>
                </a:solidFill>
              </a:rPr>
              <a:t>• A safer solution should combine level sensing, automatic control and user-visible status indication.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5257800"/>
            <a:ext cx="3337560" cy="685800"/>
          </a:xfrm>
          <a:prstGeom prst="roundRect">
            <a:avLst/>
          </a:prstGeom>
          <a:solidFill>
            <a:srgbClr val="FFF4E8"/>
          </a:solidFill>
          <a:ln>
            <a:solidFill>
              <a:srgbClr val="F5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82127" y="5413248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59637"/>
                </a:solidFill>
              </a:rPr>
              <a:t>Goal: prevent overflow automatically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03  | 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Specific goals of the proposed project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417320"/>
            <a:ext cx="594360" cy="59436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5270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3990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Sense water at predefined tank levels.</a:t>
            </a:r>
          </a:p>
        </p:txBody>
      </p:sp>
      <p:sp>
        <p:nvSpPr>
          <p:cNvPr id="11" name="Oval 10"/>
          <p:cNvSpPr/>
          <p:nvPr/>
        </p:nvSpPr>
        <p:spPr>
          <a:xfrm>
            <a:off x="4389120" y="1417320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15270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59" y="13990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Automatically switch the pump ON/OFF.</a:t>
            </a:r>
          </a:p>
        </p:txBody>
      </p:sp>
      <p:sp>
        <p:nvSpPr>
          <p:cNvPr id="15" name="Oval 14"/>
          <p:cNvSpPr/>
          <p:nvPr/>
        </p:nvSpPr>
        <p:spPr>
          <a:xfrm>
            <a:off x="8092440" y="1417320"/>
            <a:ext cx="594360" cy="59436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92440" y="152704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139903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8288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Stop filling when the tank reaches FULL.</a:t>
            </a:r>
          </a:p>
        </p:txBody>
      </p:sp>
      <p:sp>
        <p:nvSpPr>
          <p:cNvPr id="19" name="Oval 18"/>
          <p:cNvSpPr/>
          <p:nvPr/>
        </p:nvSpPr>
        <p:spPr>
          <a:xfrm>
            <a:off x="685800" y="3383280"/>
            <a:ext cx="594360" cy="594360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34930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3649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Indicate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3794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Display LOW, MEDIUM and FULL status.</a:t>
            </a:r>
          </a:p>
        </p:txBody>
      </p:sp>
      <p:sp>
        <p:nvSpPr>
          <p:cNvPr id="23" name="Oval 22"/>
          <p:cNvSpPr/>
          <p:nvPr/>
        </p:nvSpPr>
        <p:spPr>
          <a:xfrm>
            <a:off x="4389120" y="3383280"/>
            <a:ext cx="594360" cy="59436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89120" y="34930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66359" y="33649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Simulate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37947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1E2D3C"/>
                </a:solidFill>
              </a:rPr>
              <a:t>Verify the logic before physical implementation.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8092440" y="3383280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92440" y="349300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3364992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Improve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3794760"/>
            <a:ext cx="3182281" cy="4462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dirty="0">
                <a:solidFill>
                  <a:srgbClr val="1E2D3C"/>
                </a:solidFill>
              </a:rPr>
              <a:t>Reduce overflow, wastage and unnecessary pump</a:t>
            </a:r>
            <a:endParaRPr lang="en-US" sz="1150" dirty="0">
              <a:solidFill>
                <a:srgbClr val="1E2D3C"/>
              </a:solidFill>
            </a:endParaRPr>
          </a:p>
          <a:p>
            <a:r>
              <a:rPr sz="1150" dirty="0">
                <a:solidFill>
                  <a:srgbClr val="1E2D3C"/>
                </a:solidFill>
              </a:rPr>
              <a:t> operation.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04  |  LITERATURE SURVEY / 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From manual control to automated level-based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331720" cy="594360"/>
          </a:xfrm>
          <a:prstGeom prst="round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5528" y="1572768"/>
            <a:ext cx="211226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1417320"/>
            <a:ext cx="4892040" cy="594360"/>
          </a:xfrm>
          <a:prstGeom prst="round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64408" y="1572768"/>
            <a:ext cx="467258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How it works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417320"/>
            <a:ext cx="3246120" cy="594360"/>
          </a:xfrm>
          <a:prstGeom prst="round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85048" y="1572768"/>
            <a:ext cx="3026663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FFFFFF"/>
                </a:solidFill>
              </a:rPr>
              <a:t>Main limitation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148840"/>
            <a:ext cx="2331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2258568"/>
            <a:ext cx="21122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Manual monitoring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2148840"/>
            <a:ext cx="4892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64408" y="2258568"/>
            <a:ext cx="46725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User observes the tank and turns the pump on/off.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2148840"/>
            <a:ext cx="3246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85048" y="2258568"/>
            <a:ext cx="30266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Human error; overflow risk.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044952"/>
            <a:ext cx="2331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5528" y="3154680"/>
            <a:ext cx="21122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Float / basic switch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044952"/>
            <a:ext cx="4892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64408" y="3154680"/>
            <a:ext cx="46725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A mechanical switch triggers pump control.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75320" y="3044952"/>
            <a:ext cx="3246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85048" y="3154680"/>
            <a:ext cx="30266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Limited level information.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941064"/>
            <a:ext cx="2331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5528" y="4050792"/>
            <a:ext cx="21122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Timer-based pumping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154680" y="3941064"/>
            <a:ext cx="4892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64408" y="4050792"/>
            <a:ext cx="46725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Pump operates for a preset time.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941064"/>
            <a:ext cx="3246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85048" y="4050792"/>
            <a:ext cx="30266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Water demand varies; may overfill.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4837176"/>
            <a:ext cx="23317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95528" y="4946904"/>
            <a:ext cx="21122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Proposed smart system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4837176"/>
            <a:ext cx="489204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264408" y="4946904"/>
            <a:ext cx="467258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Multiple level inputs + logic + automatic pump control.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4837176"/>
            <a:ext cx="32461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385048" y="4946904"/>
            <a:ext cx="3026663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80">
                <a:solidFill>
                  <a:srgbClr val="1E2D3C"/>
                </a:solidFill>
              </a:rPr>
              <a:t>Adds sensing/control logic but improves safety.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05  |  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Sensor-driven automatic pump protection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73152" cy="12344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4904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Level Sensors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965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Inputs represent predefined water levels: LOW, MEDIUM and FULL.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73152" cy="12344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1490472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Control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965960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Digital logic evaluates the sensor state and decides the pump condition.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862072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2862072"/>
            <a:ext cx="73152" cy="1234440"/>
          </a:xfrm>
          <a:prstGeom prst="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30266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Pump Driver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350215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The control signal operates the pump or pump indicator.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862072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2862072"/>
            <a:ext cx="73152" cy="1234440"/>
          </a:xfrm>
          <a:prstGeom prst="rect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19088" y="30266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Status LEDs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502152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Visual indication communicates the current tank condition.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398264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85800" y="4398264"/>
            <a:ext cx="73152" cy="1234440"/>
          </a:xfrm>
          <a:prstGeom prst="rect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86968" y="45628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Overflow Protection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5038344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FULL condition forces the pump OFF.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398264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17920" y="4398264"/>
            <a:ext cx="73152" cy="123444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19088" y="4562855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Simulation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5038344"/>
            <a:ext cx="4846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The complete logic can be verified in Logisim before hardware build.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06  |  SYSTEM ARCHITECTURE / BLOCK DIAGRAM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Signal flow from water level to pump control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331720"/>
            <a:ext cx="201168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BE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514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Water Level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Sensors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331720"/>
            <a:ext cx="201168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87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63240" y="2514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Input Conditioning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Digital inputs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2331720"/>
            <a:ext cx="201168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79" y="2514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Control Logic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Level decision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26679" y="2331720"/>
            <a:ext cx="17373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F5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18119" y="25146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Pump Driver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ON / OFF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29800" y="2331720"/>
            <a:ext cx="1737360" cy="105156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36AA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21240" y="2514600"/>
            <a:ext cx="1554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D2240"/>
                </a:solidFill>
              </a:rPr>
              <a:t>Pump</a:t>
            </a:r>
          </a:p>
          <a:p>
            <a:pPr algn="ctr"/>
            <a:r>
              <a:rPr sz="1050">
                <a:solidFill>
                  <a:srgbClr val="697D91"/>
                </a:solidFill>
              </a:rPr>
              <a:t>Motor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606040" y="2852928"/>
            <a:ext cx="365760" cy="0"/>
          </a:xfrm>
          <a:prstGeom prst="line">
            <a:avLst/>
          </a:prstGeom>
          <a:ln w="27940">
            <a:solidFill>
              <a:srgbClr val="187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983480" y="2852928"/>
            <a:ext cx="365760" cy="0"/>
          </a:xfrm>
          <a:prstGeom prst="line">
            <a:avLst/>
          </a:prstGeom>
          <a:ln w="27940">
            <a:solidFill>
              <a:srgbClr val="187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360920" y="2852928"/>
            <a:ext cx="365759" cy="0"/>
          </a:xfrm>
          <a:prstGeom prst="line">
            <a:avLst/>
          </a:prstGeom>
          <a:ln w="27940">
            <a:solidFill>
              <a:srgbClr val="187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464040" y="2852928"/>
            <a:ext cx="365760" cy="0"/>
          </a:xfrm>
          <a:prstGeom prst="line">
            <a:avLst/>
          </a:prstGeom>
          <a:ln w="27940">
            <a:solidFill>
              <a:srgbClr val="1877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703320" y="4160520"/>
            <a:ext cx="4754880" cy="960120"/>
          </a:xfrm>
          <a:prstGeom prst="roundRect">
            <a:avLst/>
          </a:prstGeom>
          <a:solidFill>
            <a:srgbClr val="E8F8FA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86200" y="4370832"/>
            <a:ext cx="4389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9688"/>
                </a:solidFill>
              </a:rPr>
              <a:t>Status Indication  →  LOW  |  MEDIUM  |  FULL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07  |  METHODOLOGY / 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Design → simulate → verify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0392" y="1554480"/>
            <a:ext cx="594360" cy="59436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66420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Define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Choose digital states for LOW, MEDIUM and FULL.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99431" y="1554480"/>
            <a:ext cx="594360" cy="5943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99431" y="166420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57276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Create inputs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214884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Represent water-level sensors as logic inputs.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37160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48471" y="1554480"/>
            <a:ext cx="594360" cy="594360"/>
          </a:xfrm>
          <a:prstGeom prst="ellipse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48471" y="1664207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157276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Build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14884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Develop gates / control logic for pump decisions.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6118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50392" y="3794760"/>
            <a:ext cx="594360" cy="594360"/>
          </a:xfrm>
          <a:prstGeom prst="ellipse">
            <a:avLst/>
          </a:prstGeom>
          <a:solidFill>
            <a:srgbClr val="F5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0392" y="3904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81304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Add indicators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" y="43891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Connect LEDs or output indicators for level status.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6118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99431" y="3794760"/>
            <a:ext cx="594360" cy="59436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99431" y="3904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0" y="381304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Simulate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36007" y="4389120"/>
            <a:ext cx="2971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Test every valid sensor combination in Logisim.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3879" y="3611880"/>
            <a:ext cx="33832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48471" y="3794760"/>
            <a:ext cx="594360" cy="59436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48471" y="3904488"/>
            <a:ext cx="594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3813048"/>
            <a:ext cx="2240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D2240"/>
                </a:solidFill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4389120"/>
            <a:ext cx="3233578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1E2D3C"/>
                </a:solidFill>
              </a:rPr>
              <a:t>Confirm FULL always produces Pump OFF and correct</a:t>
            </a:r>
            <a:endParaRPr lang="en-US" sz="1100">
              <a:solidFill>
                <a:srgbClr val="1E2D3C"/>
              </a:solidFill>
            </a:endParaRPr>
          </a:p>
          <a:p>
            <a:r>
              <a:rPr sz="1100">
                <a:solidFill>
                  <a:srgbClr val="1E2D3C"/>
                </a:solidFill>
              </a:rPr>
              <a:t> indication.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881360" y="-365760"/>
            <a:ext cx="1645920" cy="1645920"/>
          </a:xfrm>
          <a:prstGeom prst="ellipse">
            <a:avLst/>
          </a:prstGeom>
          <a:solidFill>
            <a:srgbClr val="00BE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430000" y="5394960"/>
            <a:ext cx="1371600" cy="1371600"/>
          </a:xfrm>
          <a:prstGeom prst="ellipse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457200" y="5577840"/>
            <a:ext cx="1097280" cy="109728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0D2240"/>
                </a:solidFill>
              </a:rPr>
              <a:t>08  |  RESULTS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697D91"/>
                </a:solidFill>
              </a:rPr>
              <a:t>Expected simulation behavior and verification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325880"/>
          </a:xfrm>
          <a:prstGeom prst="rect">
            <a:avLst/>
          </a:prstGeom>
          <a:solidFill>
            <a:srgbClr val="187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5819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LOW LEVEL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574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Pump = ON
LOW indicator = 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3258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5819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MEDIUM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574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Pump = ON
MEDIUM indicator = 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325880"/>
          </a:xfrm>
          <a:prstGeom prst="rect">
            <a:avLst/>
          </a:prstGeom>
          <a:solidFill>
            <a:srgbClr val="36A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93608" y="1581912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0D2240"/>
                </a:solidFill>
              </a:rPr>
              <a:t>FULL LEVEL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608" y="2057400"/>
            <a:ext cx="3017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1E2D3C"/>
                </a:solidFill>
              </a:rPr>
              <a:t>Pump = OFF
FULL indicator = 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154680"/>
            <a:ext cx="3246120" cy="502920"/>
          </a:xfrm>
          <a:prstGeom prst="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3264408"/>
            <a:ext cx="3099815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Condition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154680"/>
            <a:ext cx="2743200" cy="502920"/>
          </a:xfrm>
          <a:prstGeom prst="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79392" y="3264408"/>
            <a:ext cx="259689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Expected pump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154680"/>
            <a:ext cx="4251960" cy="502920"/>
          </a:xfrm>
          <a:prstGeom prst="rect">
            <a:avLst/>
          </a:prstGeom>
          <a:solidFill>
            <a:srgbClr val="0D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96912" y="3264408"/>
            <a:ext cx="4105656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Expected indication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657600"/>
            <a:ext cx="3246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58952" y="3794760"/>
            <a:ext cx="3099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Tank below FULL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3657600"/>
            <a:ext cx="2743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79392" y="3794760"/>
            <a:ext cx="2596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3657600"/>
            <a:ext cx="4251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96912" y="3794760"/>
            <a:ext cx="4105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LOW / MEDIUM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5800" y="4297680"/>
            <a:ext cx="3246120" cy="566928"/>
          </a:xfrm>
          <a:prstGeom prst="rect">
            <a:avLst/>
          </a:prstGeom>
          <a:solidFill>
            <a:srgbClr val="EBF3F8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8952" y="4434840"/>
            <a:ext cx="3099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Tank reaches FULL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297680"/>
            <a:ext cx="2743200" cy="566928"/>
          </a:xfrm>
          <a:prstGeom prst="rect">
            <a:avLst/>
          </a:prstGeom>
          <a:solidFill>
            <a:srgbClr val="EBF3F8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79392" y="4434840"/>
            <a:ext cx="2596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OFF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4297680"/>
            <a:ext cx="4251960" cy="566928"/>
          </a:xfrm>
          <a:prstGeom prst="rect">
            <a:avLst/>
          </a:prstGeom>
          <a:solidFill>
            <a:srgbClr val="EBF3F8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296912" y="4434840"/>
            <a:ext cx="4105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FULL status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85800" y="4937760"/>
            <a:ext cx="32461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58952" y="5074920"/>
            <a:ext cx="309981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Invalid/conflicting input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4937760"/>
            <a:ext cx="27432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79392" y="5074920"/>
            <a:ext cx="25968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OFF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4937760"/>
            <a:ext cx="4251960" cy="566928"/>
          </a:xfrm>
          <a:prstGeom prst="rect">
            <a:avLst/>
          </a:prstGeom>
          <a:solidFill>
            <a:srgbClr val="FFFFFF"/>
          </a:solidFill>
          <a:ln>
            <a:solidFill>
              <a:srgbClr val="DCE6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96912" y="5074920"/>
            <a:ext cx="410565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1E2D3C"/>
                </a:solidFill>
              </a:rPr>
              <a:t>Fault-safe /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7150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DC4B4B"/>
                </a:solidFill>
              </a:rPr>
              <a:t>Key result: the control logic prioritizes overflow protection — FULL → Pump OFF.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47395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697D91"/>
                </a:solidFill>
              </a:rPr>
              <a:t>Smart Water Tank • Batch 11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FFFFFF"/>
                </a:solidFill>
              </a:rPr>
              <a:t>09  |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4183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>
                <a:solidFill>
                  <a:srgbClr val="BED7EB"/>
                </a:solidFill>
              </a:rPr>
              <a:t>A practical approach to safer and smarter water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Designed a concept for automatic water-level detection and pump control.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Integrated level status indication for LOW, MEDIUM and FULL conditions.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Prioritized overflow protection by switching the pump OFF at FULL level.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Created a simulation-oriented architecture suitable for Logisim verification.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FFFFF"/>
                </a:solidFill>
              </a:rPr>
              <a:t>• The system can be extended with a microcontroller, IoT monitoring, mobile alerts and real sensors.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77639" y="5715000"/>
            <a:ext cx="4251960" cy="5486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60520" y="5843016"/>
            <a:ext cx="3886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THANK YOU  •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833</Words>
  <Application>Microsoft Office PowerPoint</Application>
  <PresentationFormat>Widescreen</PresentationFormat>
  <Paragraphs>156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hvardhan2005@outlook.com</cp:lastModifiedBy>
  <cp:revision>2</cp:revision>
  <dcterms:created xsi:type="dcterms:W3CDTF">2013-01-27T09:14:16Z</dcterms:created>
  <dcterms:modified xsi:type="dcterms:W3CDTF">2026-09-21T09:46:01Z</dcterms:modified>
  <cp:category/>
</cp:coreProperties>
</file>