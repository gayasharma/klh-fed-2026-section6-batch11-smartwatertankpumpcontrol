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vardhan2005@outlook.com" userId="7335eaebe3d4b3cd" providerId="LiveId" clId="{7A81B963-B6AE-4F1A-9CD8-21A59443B08C}"/>
    <pc:docChg chg="modSld">
      <pc:chgData name="hvardhan2005@outlook.com" userId="7335eaebe3d4b3cd" providerId="LiveId" clId="{7A81B963-B6AE-4F1A-9CD8-21A59443B08C}" dt="2026-09-21T04:37:57.229" v="8" actId="20577"/>
      <pc:docMkLst>
        <pc:docMk/>
      </pc:docMkLst>
      <pc:sldChg chg="modSp mod">
        <pc:chgData name="hvardhan2005@outlook.com" userId="7335eaebe3d4b3cd" providerId="LiveId" clId="{7A81B963-B6AE-4F1A-9CD8-21A59443B08C}" dt="2026-09-21T04:37:30.618" v="6" actId="20577"/>
        <pc:sldMkLst>
          <pc:docMk/>
          <pc:sldMk cId="0" sldId="257"/>
        </pc:sldMkLst>
        <pc:spChg chg="mod">
          <ac:chgData name="hvardhan2005@outlook.com" userId="7335eaebe3d4b3cd" providerId="LiveId" clId="{7A81B963-B6AE-4F1A-9CD8-21A59443B08C}" dt="2026-09-21T04:37:01.647" v="2" actId="2057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hvardhan2005@outlook.com" userId="7335eaebe3d4b3cd" providerId="LiveId" clId="{7A81B963-B6AE-4F1A-9CD8-21A59443B08C}" dt="2026-09-21T04:37:20.445" v="4" actId="2057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hvardhan2005@outlook.com" userId="7335eaebe3d4b3cd" providerId="LiveId" clId="{7A81B963-B6AE-4F1A-9CD8-21A59443B08C}" dt="2026-09-21T04:37:30.618" v="6" actId="20577"/>
          <ac:spMkLst>
            <pc:docMk/>
            <pc:sldMk cId="0" sldId="257"/>
            <ac:spMk id="18" creationId="{00000000-0000-0000-0000-000000000000}"/>
          </ac:spMkLst>
        </pc:spChg>
      </pc:sldChg>
      <pc:sldChg chg="modSp mod">
        <pc:chgData name="hvardhan2005@outlook.com" userId="7335eaebe3d4b3cd" providerId="LiveId" clId="{7A81B963-B6AE-4F1A-9CD8-21A59443B08C}" dt="2026-09-21T04:37:42.838" v="7" actId="20577"/>
        <pc:sldMkLst>
          <pc:docMk/>
          <pc:sldMk cId="0" sldId="259"/>
        </pc:sldMkLst>
        <pc:spChg chg="mod">
          <ac:chgData name="hvardhan2005@outlook.com" userId="7335eaebe3d4b3cd" providerId="LiveId" clId="{7A81B963-B6AE-4F1A-9CD8-21A59443B08C}" dt="2026-09-21T04:37:42.838" v="7" actId="20577"/>
          <ac:spMkLst>
            <pc:docMk/>
            <pc:sldMk cId="0" sldId="259"/>
            <ac:spMk id="30" creationId="{00000000-0000-0000-0000-000000000000}"/>
          </ac:spMkLst>
        </pc:spChg>
      </pc:sldChg>
      <pc:sldChg chg="modSp mod">
        <pc:chgData name="hvardhan2005@outlook.com" userId="7335eaebe3d4b3cd" providerId="LiveId" clId="{7A81B963-B6AE-4F1A-9CD8-21A59443B08C}" dt="2026-09-21T04:37:57.229" v="8" actId="20577"/>
        <pc:sldMkLst>
          <pc:docMk/>
          <pc:sldMk cId="0" sldId="263"/>
        </pc:sldMkLst>
        <pc:spChg chg="mod">
          <ac:chgData name="hvardhan2005@outlook.com" userId="7335eaebe3d4b3cd" providerId="LiveId" clId="{7A81B963-B6AE-4F1A-9CD8-21A59443B08C}" dt="2026-09-21T04:37:57.229" v="8" actId="20577"/>
          <ac:spMkLst>
            <pc:docMk/>
            <pc:sldMk cId="0" sldId="263"/>
            <ac:spMk id="3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349240"/>
            <a:ext cx="12191695" cy="384048"/>
          </a:xfrm>
          <a:prstGeom prst="rect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715000"/>
            <a:ext cx="12191695" cy="384048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12191695" cy="38404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89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BEDC"/>
                </a:solidFill>
              </a:rPr>
              <a:t>DESIGN AND SIMULATION OF A</a:t>
            </a:r>
          </a:p>
          <a:p>
            <a:r>
              <a:rPr sz="3800" b="1">
                <a:solidFill>
                  <a:srgbClr val="FFFFFF"/>
                </a:solidFill>
              </a:rPr>
              <a:t>SMART WATER TANK</a:t>
            </a:r>
          </a:p>
          <a:p>
            <a:r>
              <a:rPr sz="2500">
                <a:solidFill>
                  <a:srgbClr val="FFFFFF"/>
                </a:solidFill>
              </a:rPr>
              <a:t>Overflow Protection and Pump Control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37560"/>
            <a:ext cx="6018379" cy="17184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00BEDC"/>
                </a:solidFill>
              </a:rPr>
              <a:t>BATCH 11</a:t>
            </a:r>
          </a:p>
          <a:p>
            <a:pPr>
              <a:spcAft>
                <a:spcPts val="400"/>
              </a:spcAft>
            </a:pPr>
            <a:r>
              <a:rPr sz="1250" dirty="0">
                <a:solidFill>
                  <a:srgbClr val="D7E6F2"/>
                </a:solidFill>
              </a:rPr>
              <a:t>MIRIYALA SRIKARI — </a:t>
            </a:r>
            <a:r>
              <a:rPr sz="1250" dirty="0" err="1">
                <a:solidFill>
                  <a:srgbClr val="D7E6F2"/>
                </a:solidFill>
              </a:rPr>
              <a:t>B.Tech</a:t>
            </a:r>
            <a:r>
              <a:rPr sz="1250" dirty="0">
                <a:solidFill>
                  <a:srgbClr val="D7E6F2"/>
                </a:solidFill>
              </a:rPr>
              <a:t> CSE — 2620030683</a:t>
            </a:r>
          </a:p>
          <a:p>
            <a:pPr>
              <a:spcAft>
                <a:spcPts val="400"/>
              </a:spcAft>
            </a:pPr>
            <a:r>
              <a:rPr sz="1250" dirty="0">
                <a:solidFill>
                  <a:srgbClr val="D7E6F2"/>
                </a:solidFill>
              </a:rPr>
              <a:t>SINDHU CHANDULA — </a:t>
            </a:r>
            <a:r>
              <a:rPr sz="1250" dirty="0" err="1">
                <a:solidFill>
                  <a:srgbClr val="D7E6F2"/>
                </a:solidFill>
              </a:rPr>
              <a:t>B.Tech</a:t>
            </a:r>
            <a:r>
              <a:rPr sz="1250" dirty="0">
                <a:solidFill>
                  <a:srgbClr val="D7E6F2"/>
                </a:solidFill>
              </a:rPr>
              <a:t> CSE — 2620030690</a:t>
            </a:r>
          </a:p>
          <a:p>
            <a:pPr>
              <a:spcAft>
                <a:spcPts val="400"/>
              </a:spcAft>
            </a:pPr>
            <a:r>
              <a:rPr sz="1250" dirty="0">
                <a:solidFill>
                  <a:srgbClr val="D7E6F2"/>
                </a:solidFill>
              </a:rPr>
              <a:t>PINGALI SAI GAYATHRI — </a:t>
            </a:r>
            <a:r>
              <a:rPr sz="1250" dirty="0" err="1">
                <a:solidFill>
                  <a:srgbClr val="D7E6F2"/>
                </a:solidFill>
              </a:rPr>
              <a:t>B.Tech</a:t>
            </a:r>
            <a:r>
              <a:rPr sz="1250" dirty="0">
                <a:solidFill>
                  <a:srgbClr val="D7E6F2"/>
                </a:solidFill>
              </a:rPr>
              <a:t> ECE — 2620040006</a:t>
            </a:r>
          </a:p>
          <a:p>
            <a:pPr>
              <a:spcAft>
                <a:spcPts val="400"/>
              </a:spcAft>
            </a:pPr>
            <a:r>
              <a:rPr sz="1250" dirty="0">
                <a:solidFill>
                  <a:srgbClr val="D7E6F2"/>
                </a:solidFill>
              </a:rPr>
              <a:t>JADIGAM HARSHAVARDHAN — </a:t>
            </a:r>
            <a:r>
              <a:rPr sz="1250" dirty="0" err="1">
                <a:solidFill>
                  <a:srgbClr val="D7E6F2"/>
                </a:solidFill>
              </a:rPr>
              <a:t>B.Tech</a:t>
            </a:r>
            <a:r>
              <a:rPr sz="1250" dirty="0">
                <a:solidFill>
                  <a:srgbClr val="D7E6F2"/>
                </a:solidFill>
              </a:rPr>
              <a:t> ECE — 2620040028</a:t>
            </a:r>
          </a:p>
          <a:p>
            <a:pPr>
              <a:spcAft>
                <a:spcPts val="400"/>
              </a:spcAft>
            </a:pPr>
            <a:r>
              <a:rPr sz="1250" dirty="0">
                <a:solidFill>
                  <a:srgbClr val="D7E6F2"/>
                </a:solidFill>
              </a:rPr>
              <a:t>Guide: _____</a:t>
            </a:r>
            <a:r>
              <a:rPr lang="en-US" sz="1250" dirty="0">
                <a:solidFill>
                  <a:srgbClr val="D7E6F2"/>
                </a:solidFill>
              </a:rPr>
              <a:t>Kartheek  V</a:t>
            </a:r>
            <a:r>
              <a:rPr sz="1250" dirty="0">
                <a:solidFill>
                  <a:srgbClr val="D7E6F2"/>
                </a:solidFill>
              </a:rPr>
              <a:t>_______________   |   Department: _____</a:t>
            </a:r>
            <a:r>
              <a:rPr lang="en-US" sz="1250" dirty="0">
                <a:solidFill>
                  <a:srgbClr val="D7E6F2"/>
                </a:solidFill>
              </a:rPr>
              <a:t>ECE</a:t>
            </a:r>
            <a:r>
              <a:rPr sz="1250" dirty="0">
                <a:solidFill>
                  <a:srgbClr val="D7E6F2"/>
                </a:solidFill>
              </a:rPr>
              <a:t>_______________</a:t>
            </a:r>
          </a:p>
          <a:p>
            <a:pPr>
              <a:spcAft>
                <a:spcPts val="400"/>
              </a:spcAft>
            </a:pPr>
            <a:r>
              <a:rPr sz="1250" dirty="0">
                <a:solidFill>
                  <a:srgbClr val="D7E6F2"/>
                </a:solidFill>
              </a:rPr>
              <a:t>College: ______</a:t>
            </a:r>
            <a:r>
              <a:rPr lang="en-US" sz="1250" dirty="0">
                <a:solidFill>
                  <a:srgbClr val="D7E6F2"/>
                </a:solidFill>
              </a:rPr>
              <a:t>KL University</a:t>
            </a:r>
            <a:r>
              <a:rPr sz="1250" dirty="0">
                <a:solidFill>
                  <a:srgbClr val="D7E6F2"/>
                </a:solidFill>
              </a:rPr>
              <a:t>____________   |   Academic Year: 2026–27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881360" y="-365760"/>
            <a:ext cx="1645920" cy="1645920"/>
          </a:xfrm>
          <a:prstGeom prst="ellipse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430000" y="5394960"/>
            <a:ext cx="1371600" cy="1371600"/>
          </a:xfrm>
          <a:prstGeom prst="ellipse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57200" y="5577840"/>
            <a:ext cx="1097280" cy="10972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D2240"/>
                </a:solidFill>
              </a:rPr>
              <a:t>01  |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4183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7D91"/>
                </a:solidFill>
              </a:rPr>
              <a:t>Why smart water-level management matters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4290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73152" cy="4160520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58191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2240"/>
                </a:solidFill>
              </a:rPr>
              <a:t>The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57400"/>
            <a:ext cx="3150350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dirty="0">
                <a:solidFill>
                  <a:srgbClr val="1E2D3C"/>
                </a:solidFill>
              </a:rPr>
              <a:t>Traditional tanks often depend on manual</a:t>
            </a:r>
            <a:endParaRPr lang="en-US" sz="1250" dirty="0">
              <a:solidFill>
                <a:srgbClr val="1E2D3C"/>
              </a:solidFill>
            </a:endParaRPr>
          </a:p>
          <a:p>
            <a:r>
              <a:rPr sz="1250" dirty="0">
                <a:solidFill>
                  <a:srgbClr val="1E2D3C"/>
                </a:solidFill>
              </a:rPr>
              <a:t> observation. This can cause overflow,</a:t>
            </a:r>
            <a:endParaRPr lang="en-US" sz="1250" dirty="0">
              <a:solidFill>
                <a:srgbClr val="1E2D3C"/>
              </a:solidFill>
            </a:endParaRPr>
          </a:p>
          <a:p>
            <a:r>
              <a:rPr sz="1250" dirty="0">
                <a:solidFill>
                  <a:srgbClr val="1E2D3C"/>
                </a:solidFill>
              </a:rPr>
              <a:t> water wastage, unnecessary pump operation</a:t>
            </a:r>
            <a:endParaRPr lang="en-US" sz="1250" dirty="0">
              <a:solidFill>
                <a:srgbClr val="1E2D3C"/>
              </a:solidFill>
            </a:endParaRPr>
          </a:p>
          <a:p>
            <a:r>
              <a:rPr sz="1250" dirty="0">
                <a:solidFill>
                  <a:srgbClr val="1E2D3C"/>
                </a:solidFill>
              </a:rPr>
              <a:t> and avoidable electricity consumption.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417320"/>
            <a:ext cx="34290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0832" y="1417320"/>
            <a:ext cx="73152" cy="41605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58191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2240"/>
                </a:solidFill>
              </a:rPr>
              <a:t>The Idea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57400"/>
            <a:ext cx="3280257" cy="6694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dirty="0">
                <a:solidFill>
                  <a:srgbClr val="1E2D3C"/>
                </a:solidFill>
              </a:rPr>
              <a:t>Use water-level sensors and digital control logic</a:t>
            </a:r>
            <a:endParaRPr lang="en-US" sz="1250" dirty="0">
              <a:solidFill>
                <a:srgbClr val="1E2D3C"/>
              </a:solidFill>
            </a:endParaRPr>
          </a:p>
          <a:p>
            <a:r>
              <a:rPr sz="1250" dirty="0">
                <a:solidFill>
                  <a:srgbClr val="1E2D3C"/>
                </a:solidFill>
              </a:rPr>
              <a:t> to detect LOW, MEDIUM and FULL conditions</a:t>
            </a:r>
            <a:endParaRPr lang="en-US" sz="1250" dirty="0">
              <a:solidFill>
                <a:srgbClr val="1E2D3C"/>
              </a:solidFill>
            </a:endParaRPr>
          </a:p>
          <a:p>
            <a:r>
              <a:rPr sz="1250" dirty="0">
                <a:solidFill>
                  <a:srgbClr val="1E2D3C"/>
                </a:solidFill>
              </a:rPr>
              <a:t> and automatically control the pump.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417320"/>
            <a:ext cx="34290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55864" y="1417320"/>
            <a:ext cx="73152" cy="4160520"/>
          </a:xfrm>
          <a:prstGeom prst="rect">
            <a:avLst/>
          </a:prstGeom>
          <a:solidFill>
            <a:srgbClr val="36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57032" y="158191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2240"/>
                </a:solidFill>
              </a:rPr>
              <a:t>The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2" y="2057400"/>
            <a:ext cx="3310715" cy="6694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dirty="0">
                <a:solidFill>
                  <a:srgbClr val="1E2D3C"/>
                </a:solidFill>
              </a:rPr>
              <a:t>A simple, low-cost and simulation-friendly</a:t>
            </a:r>
            <a:endParaRPr lang="en-US" sz="1250" dirty="0">
              <a:solidFill>
                <a:srgbClr val="1E2D3C"/>
              </a:solidFill>
            </a:endParaRPr>
          </a:p>
          <a:p>
            <a:r>
              <a:rPr sz="1250" dirty="0">
                <a:solidFill>
                  <a:srgbClr val="1E2D3C"/>
                </a:solidFill>
              </a:rPr>
              <a:t> approach to safer tank filling, reduced overflow</a:t>
            </a:r>
            <a:endParaRPr lang="en-US" sz="1250" dirty="0">
              <a:solidFill>
                <a:srgbClr val="1E2D3C"/>
              </a:solidFill>
            </a:endParaRPr>
          </a:p>
          <a:p>
            <a:r>
              <a:rPr sz="1250" dirty="0">
                <a:solidFill>
                  <a:srgbClr val="1E2D3C"/>
                </a:solidFill>
              </a:rPr>
              <a:t> and better pump management.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97D91"/>
                </a:solidFill>
              </a:rPr>
              <a:t>Smart Water Tank • Batch 11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881360" y="-365760"/>
            <a:ext cx="1645920" cy="1645920"/>
          </a:xfrm>
          <a:prstGeom prst="ellipse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430000" y="5394960"/>
            <a:ext cx="1371600" cy="1371600"/>
          </a:xfrm>
          <a:prstGeom prst="ellipse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57200" y="5577840"/>
            <a:ext cx="1097280" cy="10972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D2240"/>
                </a:solidFill>
              </a:rPr>
              <a:t>02  | 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4183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7D91"/>
                </a:solidFill>
              </a:rPr>
              <a:t>Limitations of manual and basic pump-control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E2D3C"/>
                </a:solidFill>
              </a:rPr>
              <a:t>• Water tanks may overflow when the pump is left running after the tank becomes full.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E2D3C"/>
                </a:solidFill>
              </a:rPr>
              <a:t>• Manual monitoring requires continuous attention and may be inconvenient or unreliable.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E2D3C"/>
                </a:solidFill>
              </a:rPr>
              <a:t>• Running a pump unnecessarily can increase energy usage and reduce equipment life.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E2D3C"/>
                </a:solidFill>
              </a:rPr>
              <a:t>• Many simple systems provide only ON/OFF control without clear level indication.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E2D3C"/>
                </a:solidFill>
              </a:rPr>
              <a:t>• A safer solution should combine level sensing, automatic control and user-visible status indication.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5257800"/>
            <a:ext cx="3337560" cy="685800"/>
          </a:xfrm>
          <a:prstGeom prst="roundRect">
            <a:avLst/>
          </a:prstGeom>
          <a:solidFill>
            <a:srgbClr val="FFF4E8"/>
          </a:solidFill>
          <a:ln>
            <a:solidFill>
              <a:srgbClr val="F5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82127" y="5413248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F59637"/>
                </a:solidFill>
              </a:rPr>
              <a:t>Goal: prevent overflow automatically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97D91"/>
                </a:solidFill>
              </a:rPr>
              <a:t>Smart Water Tank • Batch 11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881360" y="-365760"/>
            <a:ext cx="1645920" cy="1645920"/>
          </a:xfrm>
          <a:prstGeom prst="ellipse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430000" y="5394960"/>
            <a:ext cx="1371600" cy="1371600"/>
          </a:xfrm>
          <a:prstGeom prst="ellipse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57200" y="5577840"/>
            <a:ext cx="1097280" cy="10972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D2240"/>
                </a:solidFill>
              </a:rPr>
              <a:t>03  | 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4183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7D91"/>
                </a:solidFill>
              </a:rPr>
              <a:t>Specific goals of the proposed project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417320"/>
            <a:ext cx="594360" cy="594360"/>
          </a:xfrm>
          <a:prstGeom prst="ellipse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52704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399032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2240"/>
                </a:solidFill>
              </a:rPr>
              <a:t>Detect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8288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1E2D3C"/>
                </a:solidFill>
              </a:rPr>
              <a:t>Sense water at predefined tank levels.</a:t>
            </a:r>
          </a:p>
        </p:txBody>
      </p:sp>
      <p:sp>
        <p:nvSpPr>
          <p:cNvPr id="11" name="Oval 10"/>
          <p:cNvSpPr/>
          <p:nvPr/>
        </p:nvSpPr>
        <p:spPr>
          <a:xfrm>
            <a:off x="4389120" y="1417320"/>
            <a:ext cx="594360" cy="5943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152704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59" y="1399032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2240"/>
                </a:solidFill>
              </a:rPr>
              <a:t>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59" y="18288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1E2D3C"/>
                </a:solidFill>
              </a:rPr>
              <a:t>Automatically switch the pump ON/OFF.</a:t>
            </a:r>
          </a:p>
        </p:txBody>
      </p:sp>
      <p:sp>
        <p:nvSpPr>
          <p:cNvPr id="15" name="Oval 14"/>
          <p:cNvSpPr/>
          <p:nvPr/>
        </p:nvSpPr>
        <p:spPr>
          <a:xfrm>
            <a:off x="8092440" y="1417320"/>
            <a:ext cx="594360" cy="594360"/>
          </a:xfrm>
          <a:prstGeom prst="ellipse">
            <a:avLst/>
          </a:prstGeom>
          <a:solidFill>
            <a:srgbClr val="36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92440" y="152704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1399032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2240"/>
                </a:solidFill>
              </a:rPr>
              <a:t>Protect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18288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1E2D3C"/>
                </a:solidFill>
              </a:rPr>
              <a:t>Stop filling when the tank reaches FULL.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3383280"/>
            <a:ext cx="594360" cy="594360"/>
          </a:xfrm>
          <a:prstGeom prst="ellipse">
            <a:avLst/>
          </a:prstGeom>
          <a:solidFill>
            <a:srgbClr val="F5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349300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364992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2240"/>
                </a:solidFill>
              </a:rPr>
              <a:t>Indicate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79476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1E2D3C"/>
                </a:solidFill>
              </a:rPr>
              <a:t>Display LOW, MEDIUM and FULL status.</a:t>
            </a:r>
          </a:p>
        </p:txBody>
      </p:sp>
      <p:sp>
        <p:nvSpPr>
          <p:cNvPr id="23" name="Oval 22"/>
          <p:cNvSpPr/>
          <p:nvPr/>
        </p:nvSpPr>
        <p:spPr>
          <a:xfrm>
            <a:off x="4389120" y="3383280"/>
            <a:ext cx="594360" cy="594360"/>
          </a:xfrm>
          <a:prstGeom prst="ellipse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89120" y="349300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59" y="3364992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2240"/>
                </a:solidFill>
              </a:rPr>
              <a:t>Simulate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59" y="379476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1E2D3C"/>
                </a:solidFill>
              </a:rPr>
              <a:t>Verify the logic before physical implementation.</a:t>
            </a:r>
          </a:p>
        </p:txBody>
      </p:sp>
      <p:sp>
        <p:nvSpPr>
          <p:cNvPr id="27" name="Oval 26"/>
          <p:cNvSpPr/>
          <p:nvPr/>
        </p:nvSpPr>
        <p:spPr>
          <a:xfrm>
            <a:off x="8092440" y="3383280"/>
            <a:ext cx="594360" cy="5943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92440" y="349300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3364992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2240"/>
                </a:solidFill>
              </a:rPr>
              <a:t>Improve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3794760"/>
            <a:ext cx="3182281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dirty="0">
                <a:solidFill>
                  <a:srgbClr val="1E2D3C"/>
                </a:solidFill>
              </a:rPr>
              <a:t>Reduce overflow, wastage and unnecessary pump</a:t>
            </a:r>
            <a:endParaRPr lang="en-US" sz="1150" dirty="0">
              <a:solidFill>
                <a:srgbClr val="1E2D3C"/>
              </a:solidFill>
            </a:endParaRPr>
          </a:p>
          <a:p>
            <a:r>
              <a:rPr sz="1150" dirty="0">
                <a:solidFill>
                  <a:srgbClr val="1E2D3C"/>
                </a:solidFill>
              </a:rPr>
              <a:t> operation.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97D91"/>
                </a:solidFill>
              </a:rPr>
              <a:t>Smart Water Tank • Batch 11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881360" y="-365760"/>
            <a:ext cx="1645920" cy="1645920"/>
          </a:xfrm>
          <a:prstGeom prst="ellipse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430000" y="5394960"/>
            <a:ext cx="1371600" cy="1371600"/>
          </a:xfrm>
          <a:prstGeom prst="ellipse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57200" y="5577840"/>
            <a:ext cx="1097280" cy="10972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D2240"/>
                </a:solidFill>
              </a:rPr>
              <a:t>04  |  LITERATURE SURVEY / EXISTING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4183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7D91"/>
                </a:solidFill>
              </a:rPr>
              <a:t>From manual control to automated level-based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2331720" cy="594360"/>
          </a:xfrm>
          <a:prstGeom prst="roundRect">
            <a:avLst/>
          </a:prstGeom>
          <a:solidFill>
            <a:srgbClr val="0D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572768"/>
            <a:ext cx="211226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FFFFFF"/>
                </a:solidFill>
              </a:rPr>
              <a:t>Approach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417320"/>
            <a:ext cx="4892040" cy="594360"/>
          </a:xfrm>
          <a:prstGeom prst="roundRect">
            <a:avLst/>
          </a:prstGeom>
          <a:solidFill>
            <a:srgbClr val="0D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64408" y="1572768"/>
            <a:ext cx="467258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417320"/>
            <a:ext cx="3246120" cy="594360"/>
          </a:xfrm>
          <a:prstGeom prst="roundRect">
            <a:avLst/>
          </a:prstGeom>
          <a:solidFill>
            <a:srgbClr val="0D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85048" y="1572768"/>
            <a:ext cx="302666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FFFFFF"/>
                </a:solidFill>
              </a:rPr>
              <a:t>Main limitation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148840"/>
            <a:ext cx="23317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2258568"/>
            <a:ext cx="2112263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>
                <a:solidFill>
                  <a:srgbClr val="1E2D3C"/>
                </a:solidFill>
              </a:rPr>
              <a:t>Manual monitoring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2148840"/>
            <a:ext cx="48920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64408" y="2258568"/>
            <a:ext cx="4672583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>
                <a:solidFill>
                  <a:srgbClr val="1E2D3C"/>
                </a:solidFill>
              </a:rPr>
              <a:t>User observes the tank and turns the pump on/off.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2148840"/>
            <a:ext cx="32461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85048" y="2258568"/>
            <a:ext cx="3026663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>
                <a:solidFill>
                  <a:srgbClr val="1E2D3C"/>
                </a:solidFill>
              </a:rPr>
              <a:t>Human error; overflow risk.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044952"/>
            <a:ext cx="23317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8" y="3154680"/>
            <a:ext cx="2112263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>
                <a:solidFill>
                  <a:srgbClr val="1E2D3C"/>
                </a:solidFill>
              </a:rPr>
              <a:t>Float / basic switch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54680" y="3044952"/>
            <a:ext cx="48920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64408" y="3154680"/>
            <a:ext cx="4672583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>
                <a:solidFill>
                  <a:srgbClr val="1E2D3C"/>
                </a:solidFill>
              </a:rPr>
              <a:t>A mechanical switch triggers pump control.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3044952"/>
            <a:ext cx="32461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85048" y="3154680"/>
            <a:ext cx="3026663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>
                <a:solidFill>
                  <a:srgbClr val="1E2D3C"/>
                </a:solidFill>
              </a:rPr>
              <a:t>Limited level information.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941064"/>
            <a:ext cx="23317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5528" y="4050792"/>
            <a:ext cx="2112263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>
                <a:solidFill>
                  <a:srgbClr val="1E2D3C"/>
                </a:solidFill>
              </a:rPr>
              <a:t>Timer-based pumping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54680" y="3941064"/>
            <a:ext cx="48920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64408" y="4050792"/>
            <a:ext cx="4672583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>
                <a:solidFill>
                  <a:srgbClr val="1E2D3C"/>
                </a:solidFill>
              </a:rPr>
              <a:t>Pump operates for a preset time.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3941064"/>
            <a:ext cx="32461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85048" y="4050792"/>
            <a:ext cx="3026663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>
                <a:solidFill>
                  <a:srgbClr val="1E2D3C"/>
                </a:solidFill>
              </a:rPr>
              <a:t>Water demand varies; may overfill.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837176"/>
            <a:ext cx="23317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5528" y="4946904"/>
            <a:ext cx="2112263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>
                <a:solidFill>
                  <a:srgbClr val="1E2D3C"/>
                </a:solidFill>
              </a:rPr>
              <a:t>Proposed smart system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54680" y="4837176"/>
            <a:ext cx="48920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64408" y="4946904"/>
            <a:ext cx="4672583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>
                <a:solidFill>
                  <a:srgbClr val="1E2D3C"/>
                </a:solidFill>
              </a:rPr>
              <a:t>Multiple level inputs + logic + automatic pump control.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75320" y="4837176"/>
            <a:ext cx="32461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85048" y="4946904"/>
            <a:ext cx="3026663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>
                <a:solidFill>
                  <a:srgbClr val="1E2D3C"/>
                </a:solidFill>
              </a:rPr>
              <a:t>Adds sensing/control logic but improves safety.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97D91"/>
                </a:solidFill>
              </a:rPr>
              <a:t>Smart Water Tank • Batch 11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881360" y="-365760"/>
            <a:ext cx="1645920" cy="1645920"/>
          </a:xfrm>
          <a:prstGeom prst="ellipse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430000" y="5394960"/>
            <a:ext cx="1371600" cy="1371600"/>
          </a:xfrm>
          <a:prstGeom prst="ellipse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57200" y="5577840"/>
            <a:ext cx="1097280" cy="10972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D2240"/>
                </a:solidFill>
              </a:rPr>
              <a:t>05  |  PROPOSED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4183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7D91"/>
                </a:solidFill>
              </a:rPr>
              <a:t>Sensor-driven automatic pump protection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73152" cy="1234440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49047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2240"/>
                </a:solidFill>
              </a:rPr>
              <a:t>Level Sensors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9659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E2D3C"/>
                </a:solidFill>
              </a:rPr>
              <a:t>Inputs represent predefined water levels: LOW, MEDIUM and FULL.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325880"/>
            <a:ext cx="73152" cy="1234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49047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2240"/>
                </a:solidFill>
              </a:rPr>
              <a:t>Control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9659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E2D3C"/>
                </a:solidFill>
              </a:rPr>
              <a:t>Digital logic evaluates the sensor state and decides the pump condition.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862072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2862072"/>
            <a:ext cx="73152" cy="1234440"/>
          </a:xfrm>
          <a:prstGeom prst="rect">
            <a:avLst/>
          </a:prstGeom>
          <a:solidFill>
            <a:srgbClr val="36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" y="302666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2240"/>
                </a:solidFill>
              </a:rPr>
              <a:t>Pump Driver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502152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E2D3C"/>
                </a:solidFill>
              </a:rPr>
              <a:t>The control signal operates the pump or pump indicator.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862072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2862072"/>
            <a:ext cx="73152" cy="1234440"/>
          </a:xfrm>
          <a:prstGeom prst="rect">
            <a:avLst/>
          </a:prstGeom>
          <a:solidFill>
            <a:srgbClr val="F5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19088" y="302666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2240"/>
                </a:solidFill>
              </a:rPr>
              <a:t>Status LEDs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502152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E2D3C"/>
                </a:solidFill>
              </a:rPr>
              <a:t>Visual indication communicates the current tank condition.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398264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4398264"/>
            <a:ext cx="73152" cy="1234440"/>
          </a:xfrm>
          <a:prstGeom prst="rect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" y="4562855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2240"/>
                </a:solidFill>
              </a:rPr>
              <a:t>Overflow Protection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5038344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E2D3C"/>
                </a:solidFill>
              </a:rPr>
              <a:t>FULL condition forces the pump OFF.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398264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17920" y="4398264"/>
            <a:ext cx="73152" cy="1234440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19088" y="4562855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2240"/>
                </a:solidFill>
              </a:rPr>
              <a:t>Simulation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5038344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E2D3C"/>
                </a:solidFill>
              </a:rPr>
              <a:t>The complete logic can be verified in Logisim before hardware build.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97D91"/>
                </a:solidFill>
              </a:rPr>
              <a:t>Smart Water Tank • Batch 11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881360" y="-365760"/>
            <a:ext cx="1645920" cy="1645920"/>
          </a:xfrm>
          <a:prstGeom prst="ellipse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430000" y="5394960"/>
            <a:ext cx="1371600" cy="1371600"/>
          </a:xfrm>
          <a:prstGeom prst="ellipse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57200" y="5577840"/>
            <a:ext cx="1097280" cy="10972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D2240"/>
                </a:solidFill>
              </a:rPr>
              <a:t>06  |  SYSTEM ARCHITECTURE / BLOCK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4183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7D91"/>
                </a:solidFill>
              </a:rPr>
              <a:t>Signal flow from water level to pump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331720"/>
            <a:ext cx="2011680" cy="10515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5146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D2240"/>
                </a:solidFill>
              </a:rPr>
              <a:t>Water Level</a:t>
            </a:r>
          </a:p>
          <a:p>
            <a:pPr algn="ctr"/>
            <a:r>
              <a:rPr sz="1050">
                <a:solidFill>
                  <a:srgbClr val="697D91"/>
                </a:solidFill>
              </a:rPr>
              <a:t>Sensors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2331720"/>
            <a:ext cx="2011680" cy="10515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87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63240" y="25146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D2240"/>
                </a:solidFill>
              </a:rPr>
              <a:t>Input Conditioning</a:t>
            </a:r>
          </a:p>
          <a:p>
            <a:pPr algn="ctr"/>
            <a:r>
              <a:rPr sz="1050">
                <a:solidFill>
                  <a:srgbClr val="697D91"/>
                </a:solidFill>
              </a:rPr>
              <a:t>Digital inputs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2331720"/>
            <a:ext cx="2011680" cy="10515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40679" y="25146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D2240"/>
                </a:solidFill>
              </a:rPr>
              <a:t>Control Logic</a:t>
            </a:r>
          </a:p>
          <a:p>
            <a:pPr algn="ctr"/>
            <a:r>
              <a:rPr sz="1050">
                <a:solidFill>
                  <a:srgbClr val="697D91"/>
                </a:solidFill>
              </a:rPr>
              <a:t>Level decision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331720"/>
            <a:ext cx="1737360" cy="10515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5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18119" y="2514600"/>
            <a:ext cx="1554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D2240"/>
                </a:solidFill>
              </a:rPr>
              <a:t>Pump Driver</a:t>
            </a:r>
          </a:p>
          <a:p>
            <a:pPr algn="ctr"/>
            <a:r>
              <a:rPr sz="1050">
                <a:solidFill>
                  <a:srgbClr val="697D91"/>
                </a:solidFill>
              </a:rPr>
              <a:t>ON / OFF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29800" y="2331720"/>
            <a:ext cx="1737360" cy="10515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36A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21240" y="2514600"/>
            <a:ext cx="1554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D2240"/>
                </a:solidFill>
              </a:rPr>
              <a:t>Pump</a:t>
            </a:r>
          </a:p>
          <a:p>
            <a:pPr algn="ctr"/>
            <a:r>
              <a:rPr sz="1050">
                <a:solidFill>
                  <a:srgbClr val="697D91"/>
                </a:solidFill>
              </a:rPr>
              <a:t>Motor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06040" y="2852928"/>
            <a:ext cx="365760" cy="0"/>
          </a:xfrm>
          <a:prstGeom prst="line">
            <a:avLst/>
          </a:prstGeom>
          <a:ln w="27940">
            <a:solidFill>
              <a:srgbClr val="1877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983480" y="2852928"/>
            <a:ext cx="365760" cy="0"/>
          </a:xfrm>
          <a:prstGeom prst="line">
            <a:avLst/>
          </a:prstGeom>
          <a:ln w="27940">
            <a:solidFill>
              <a:srgbClr val="1877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360920" y="2852928"/>
            <a:ext cx="365759" cy="0"/>
          </a:xfrm>
          <a:prstGeom prst="line">
            <a:avLst/>
          </a:prstGeom>
          <a:ln w="27940">
            <a:solidFill>
              <a:srgbClr val="1877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2852928"/>
            <a:ext cx="365760" cy="0"/>
          </a:xfrm>
          <a:prstGeom prst="line">
            <a:avLst/>
          </a:prstGeom>
          <a:ln w="27940">
            <a:solidFill>
              <a:srgbClr val="1877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703320" y="4160520"/>
            <a:ext cx="4754880" cy="960120"/>
          </a:xfrm>
          <a:prstGeom prst="roundRect">
            <a:avLst/>
          </a:prstGeom>
          <a:solidFill>
            <a:srgbClr val="E8F8FA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86200" y="4370832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09688"/>
                </a:solidFill>
              </a:rPr>
              <a:t>Status Indication  →  LOW  |  MEDIUM  |  FULL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97D91"/>
                </a:solidFill>
              </a:rPr>
              <a:t>Smart Water Tank • Batch 11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881360" y="-365760"/>
            <a:ext cx="1645920" cy="1645920"/>
          </a:xfrm>
          <a:prstGeom prst="ellipse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430000" y="5394960"/>
            <a:ext cx="1371600" cy="1371600"/>
          </a:xfrm>
          <a:prstGeom prst="ellipse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57200" y="5577840"/>
            <a:ext cx="1097280" cy="10972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D2240"/>
                </a:solidFill>
              </a:rPr>
              <a:t>07  |  METHODOLOGY /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4183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7D91"/>
                </a:solidFill>
              </a:rPr>
              <a:t>Design → simulate → verify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33832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0392" y="1554480"/>
            <a:ext cx="594360" cy="594360"/>
          </a:xfrm>
          <a:prstGeom prst="ellipse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664207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572768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240"/>
                </a:solidFill>
              </a:rPr>
              <a:t>Define levels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148840"/>
            <a:ext cx="2971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E2D3C"/>
                </a:solidFill>
              </a:rPr>
              <a:t>Choose digital states for LOW, MEDIUM and FULL.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371600"/>
            <a:ext cx="33832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99431" y="1554480"/>
            <a:ext cx="594360" cy="5943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9431" y="1664207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572768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240"/>
                </a:solidFill>
              </a:rPr>
              <a:t>Create inputs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2148840"/>
            <a:ext cx="2971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E2D3C"/>
                </a:solidFill>
              </a:rPr>
              <a:t>Represent water-level sensors as logic inputs.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371600"/>
            <a:ext cx="33832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348471" y="1554480"/>
            <a:ext cx="594360" cy="594360"/>
          </a:xfrm>
          <a:prstGeom prst="ellipse">
            <a:avLst/>
          </a:prstGeom>
          <a:solidFill>
            <a:srgbClr val="36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48471" y="1664207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59" y="1572768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240"/>
                </a:solidFill>
              </a:rPr>
              <a:t>Build logic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2148840"/>
            <a:ext cx="2971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E2D3C"/>
                </a:solidFill>
              </a:rPr>
              <a:t>Develop gates / control logic for pump decisions.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611880"/>
            <a:ext cx="33832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50392" y="3794760"/>
            <a:ext cx="594360" cy="594360"/>
          </a:xfrm>
          <a:prstGeom prst="ellipse">
            <a:avLst/>
          </a:prstGeom>
          <a:solidFill>
            <a:srgbClr val="F5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0392" y="390448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813048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240"/>
                </a:solidFill>
              </a:rPr>
              <a:t>Add indicators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4389120"/>
            <a:ext cx="2971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E2D3C"/>
                </a:solidFill>
              </a:rPr>
              <a:t>Connect LEDs or output indicators for level status.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3611880"/>
            <a:ext cx="33832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99431" y="3794760"/>
            <a:ext cx="594360" cy="594360"/>
          </a:xfrm>
          <a:prstGeom prst="ellipse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99431" y="390448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3813048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240"/>
                </a:solidFill>
              </a:rPr>
              <a:t>Simulate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36007" y="4389120"/>
            <a:ext cx="2971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E2D3C"/>
                </a:solidFill>
              </a:rPr>
              <a:t>Test every valid sensor combination in Logisim.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83879" y="3611880"/>
            <a:ext cx="33832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348471" y="3794760"/>
            <a:ext cx="594360" cy="594360"/>
          </a:xfrm>
          <a:prstGeom prst="ellipse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48471" y="390448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59" y="3813048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240"/>
                </a:solidFill>
              </a:rPr>
              <a:t>Verify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5048" y="4389120"/>
            <a:ext cx="3233578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E2D3C"/>
                </a:solidFill>
              </a:rPr>
              <a:t>Confirm FULL always produces Pump OFF and correct</a:t>
            </a:r>
            <a:endParaRPr lang="en-US" sz="1100">
              <a:solidFill>
                <a:srgbClr val="1E2D3C"/>
              </a:solidFill>
            </a:endParaRPr>
          </a:p>
          <a:p>
            <a:r>
              <a:rPr sz="1100">
                <a:solidFill>
                  <a:srgbClr val="1E2D3C"/>
                </a:solidFill>
              </a:rPr>
              <a:t> indication.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97D91"/>
                </a:solidFill>
              </a:rPr>
              <a:t>Smart Water Tank • Batch 11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881360" y="-365760"/>
            <a:ext cx="1645920" cy="1645920"/>
          </a:xfrm>
          <a:prstGeom prst="ellipse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430000" y="5394960"/>
            <a:ext cx="1371600" cy="1371600"/>
          </a:xfrm>
          <a:prstGeom prst="ellipse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57200" y="5577840"/>
            <a:ext cx="1097280" cy="10972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D2240"/>
                </a:solidFill>
              </a:rPr>
              <a:t>08  |  RESULTS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4183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7D91"/>
                </a:solidFill>
              </a:rPr>
              <a:t>Expected simulation behavior and verification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73152" cy="1325880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58191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2240"/>
                </a:solidFill>
              </a:rPr>
              <a:t>LOW LEVEL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5740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E2D3C"/>
                </a:solidFill>
              </a:rPr>
              <a:t>Pump = ON
LOW indicator = 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417320"/>
            <a:ext cx="73152" cy="13258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58191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2240"/>
                </a:solidFill>
              </a:rPr>
              <a:t>MEDIUM LEVEL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05740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E2D3C"/>
                </a:solidFill>
              </a:rPr>
              <a:t>Pump = ON
MEDIUM indicator = 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1732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417320"/>
            <a:ext cx="73152" cy="1325880"/>
          </a:xfrm>
          <a:prstGeom prst="rect">
            <a:avLst/>
          </a:prstGeom>
          <a:solidFill>
            <a:srgbClr val="36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158191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2240"/>
                </a:solidFill>
              </a:rPr>
              <a:t>FULL LEVEL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05740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E2D3C"/>
                </a:solidFill>
              </a:rPr>
              <a:t>Pump = OFF
FULL indicator = 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154680"/>
            <a:ext cx="3246120" cy="502920"/>
          </a:xfrm>
          <a:prstGeom prst="rect">
            <a:avLst/>
          </a:prstGeom>
          <a:solidFill>
            <a:srgbClr val="0D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3264408"/>
            <a:ext cx="30998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Condition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3154680"/>
            <a:ext cx="2743200" cy="502920"/>
          </a:xfrm>
          <a:prstGeom prst="rect">
            <a:avLst/>
          </a:prstGeom>
          <a:solidFill>
            <a:srgbClr val="0D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79392" y="3264408"/>
            <a:ext cx="2596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Expected pump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3154680"/>
            <a:ext cx="4251960" cy="502920"/>
          </a:xfrm>
          <a:prstGeom prst="rect">
            <a:avLst/>
          </a:prstGeom>
          <a:solidFill>
            <a:srgbClr val="0D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96912" y="3264408"/>
            <a:ext cx="410565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Expected indication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3657600"/>
            <a:ext cx="32461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8952" y="3794760"/>
            <a:ext cx="30998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1E2D3C"/>
                </a:solidFill>
              </a:rPr>
              <a:t>Tank below FULL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3657600"/>
            <a:ext cx="27432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79392" y="3794760"/>
            <a:ext cx="25968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1E2D3C"/>
                </a:solidFill>
              </a:rPr>
              <a:t>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60" y="3657600"/>
            <a:ext cx="42519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296912" y="3794760"/>
            <a:ext cx="41056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1E2D3C"/>
                </a:solidFill>
              </a:rPr>
              <a:t>LOW / MEDIUM status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4297680"/>
            <a:ext cx="3246120" cy="566928"/>
          </a:xfrm>
          <a:prstGeom prst="rect">
            <a:avLst/>
          </a:prstGeom>
          <a:solidFill>
            <a:srgbClr val="EBF3F8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8952" y="4434840"/>
            <a:ext cx="30998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1E2D3C"/>
                </a:solidFill>
              </a:rPr>
              <a:t>Tank reaches FULL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4297680"/>
            <a:ext cx="2743200" cy="566928"/>
          </a:xfrm>
          <a:prstGeom prst="rect">
            <a:avLst/>
          </a:prstGeom>
          <a:solidFill>
            <a:srgbClr val="EBF3F8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79392" y="4434840"/>
            <a:ext cx="25968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1E2D3C"/>
                </a:solidFill>
              </a:rPr>
              <a:t>OFF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23760" y="4297680"/>
            <a:ext cx="4251960" cy="566928"/>
          </a:xfrm>
          <a:prstGeom prst="rect">
            <a:avLst/>
          </a:prstGeom>
          <a:solidFill>
            <a:srgbClr val="EBF3F8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296912" y="4434840"/>
            <a:ext cx="41056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1E2D3C"/>
                </a:solidFill>
              </a:rPr>
              <a:t>FULL status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4937760"/>
            <a:ext cx="32461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58952" y="5074920"/>
            <a:ext cx="30998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1E2D3C"/>
                </a:solidFill>
              </a:rPr>
              <a:t>Invalid/conflicting input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6240" y="4937760"/>
            <a:ext cx="27432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279392" y="5074920"/>
            <a:ext cx="25968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1E2D3C"/>
                </a:solidFill>
              </a:rPr>
              <a:t>OFF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60" y="4937760"/>
            <a:ext cx="42519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296912" y="5074920"/>
            <a:ext cx="41056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1E2D3C"/>
                </a:solidFill>
              </a:rPr>
              <a:t>Fault-safe / review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5715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DC4B4B"/>
                </a:solidFill>
              </a:rPr>
              <a:t>Key result: the control logic prioritizes overflow protection — FULL → Pump OFF.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97D91"/>
                </a:solidFill>
              </a:rPr>
              <a:t>Smart Water Tank • Batch 11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09  | 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BED7EB"/>
                </a:solidFill>
              </a:rPr>
              <a:t>A practical approach to safer and smarter water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241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FFFFFF"/>
                </a:solidFill>
              </a:rPr>
              <a:t>• Designed a concept for automatic water-level detection and pump control.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FFFFFF"/>
                </a:solidFill>
              </a:rPr>
              <a:t>• Integrated level status indication for LOW, MEDIUM and FULL conditions.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FFFFFF"/>
                </a:solidFill>
              </a:rPr>
              <a:t>• Prioritized overflow protection by switching the pump OFF at FULL level.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FFFFFF"/>
                </a:solidFill>
              </a:rPr>
              <a:t>• Created a simulation-oriented architecture suitable for Logisim verification.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FFFFFF"/>
                </a:solidFill>
              </a:rPr>
              <a:t>• The system can be extended with a microcontroller, IoT monitoring, mobile alerts and real sensors.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77639" y="5715000"/>
            <a:ext cx="4251960" cy="5486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60520" y="5843016"/>
            <a:ext cx="3886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THANK YOU  •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837</Words>
  <Application>Microsoft Office PowerPoint</Application>
  <PresentationFormat>Widescreen</PresentationFormat>
  <Paragraphs>156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hvardhan2005@outlook.com</cp:lastModifiedBy>
  <cp:revision>2</cp:revision>
  <dcterms:created xsi:type="dcterms:W3CDTF">2013-01-27T09:14:16Z</dcterms:created>
  <dcterms:modified xsi:type="dcterms:W3CDTF">2026-09-21T04:37:59Z</dcterms:modified>
  <cp:category/>
</cp:coreProperties>
</file>